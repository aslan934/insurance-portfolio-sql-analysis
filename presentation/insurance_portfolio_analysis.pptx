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Premium ($)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864625</c:v>
                </c:pt>
                <c:pt idx="1">
                  <c:v>1046153</c:v>
                </c:pt>
                <c:pt idx="2">
                  <c:v>745762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AC-4728-ADE1-B193D60B6E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Claims ($)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375698</c:v>
                </c:pt>
                <c:pt idx="1">
                  <c:v>470813</c:v>
                </c:pt>
                <c:pt idx="2">
                  <c:v>296508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AC-4728-ADE1-B193D60B6E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Revenue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488927</c:v>
                </c:pt>
                <c:pt idx="1">
                  <c:v>575339</c:v>
                </c:pt>
                <c:pt idx="2">
                  <c:v>449254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AC-4728-ADE1-B193D60B6E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Policies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E5-42B5-A997-62747DF5E0BE}"/>
              </c:ext>
            </c:extLst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E5-42B5-A997-62747DF5E0BE}"/>
              </c:ext>
            </c:extLst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E5-42B5-A997-62747DF5E0B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DE5-42B5-A997-62747DF5E0B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DE5-42B5-A997-62747DF5E0B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DE5-42B5-A997-62747DF5E0B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Active</c:v>
                </c:pt>
                <c:pt idx="1">
                  <c:v>Expired</c:v>
                </c:pt>
                <c:pt idx="2">
                  <c:v>Cancelled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</c:v>
                </c:pt>
                <c:pt idx="1">
                  <c:v>311</c:v>
                </c:pt>
                <c:pt idx="2">
                  <c:v>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DE5-42B5-A997-62747DF5E0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F93-42E3-B7FB-7CFA7EE411B1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93-42E3-B7FB-7CFA7EE411B1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F93-42E3-B7FB-7CFA7EE411B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West</c:v>
                </c:pt>
                <c:pt idx="2">
                  <c:v>South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808271</c:v>
                </c:pt>
                <c:pt idx="1">
                  <c:v>767014</c:v>
                </c:pt>
                <c:pt idx="2">
                  <c:v>553486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93-42E3-B7FB-7CFA7EE411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999-4D84-BCB0-1224C2D0266C}"/>
              </c:ext>
            </c:extLst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99-4D84-BCB0-1224C2D0266C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999-4D84-BCB0-1224C2D0266C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999-4D84-BCB0-1224C2D0266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Baku</c:v>
                </c:pt>
                <c:pt idx="1">
                  <c:v>Sumqayit</c:v>
                </c:pt>
                <c:pt idx="2">
                  <c:v>Lankaran</c:v>
                </c:pt>
                <c:pt idx="3">
                  <c:v>Ganja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733835</c:v>
                </c:pt>
                <c:pt idx="1">
                  <c:v>724348</c:v>
                </c:pt>
                <c:pt idx="2">
                  <c:v>654871</c:v>
                </c:pt>
                <c:pt idx="3">
                  <c:v>543485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999-4D84-BCB0-1224C2D026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Baku</c:v>
                </c:pt>
                <c:pt idx="1">
                  <c:v>Sumqayit</c:v>
                </c:pt>
                <c:pt idx="2">
                  <c:v>Ganja</c:v>
                </c:pt>
                <c:pt idx="3">
                  <c:v>Lankaran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438230</c:v>
                </c:pt>
                <c:pt idx="1">
                  <c:v>397916</c:v>
                </c:pt>
                <c:pt idx="2">
                  <c:v>353923</c:v>
                </c:pt>
                <c:pt idx="3">
                  <c:v>323450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07-4CFF-9CEF-925D8D9226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Count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Sumqayit</c:v>
                </c:pt>
                <c:pt idx="1">
                  <c:v>Shaki</c:v>
                </c:pt>
                <c:pt idx="2">
                  <c:v>Mingachevir</c:v>
                </c:pt>
                <c:pt idx="3">
                  <c:v>Lankaran</c:v>
                </c:pt>
                <c:pt idx="4">
                  <c:v>Ganja</c:v>
                </c:pt>
                <c:pt idx="5">
                  <c:v>Baku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77</c:v>
                </c:pt>
                <c:pt idx="2">
                  <c:v>69</c:v>
                </c:pt>
                <c:pt idx="3">
                  <c:v>68</c:v>
                </c:pt>
                <c:pt idx="4">
                  <c:v>65</c:v>
                </c:pt>
                <c:pt idx="5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46-47FF-BA13-3C24CA5A98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Claim ($)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56-65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8247</c:v>
                </c:pt>
                <c:pt idx="1">
                  <c:v>9239</c:v>
                </c:pt>
                <c:pt idx="2">
                  <c:v>9623</c:v>
                </c:pt>
                <c:pt idx="3">
                  <c:v>9277</c:v>
                </c:pt>
                <c:pt idx="4">
                  <c:v>8141</c:v>
                </c:pt>
                <c:pt idx="5">
                  <c:v>8396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A1-41B1-AA9D-3C18D95A65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Claims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8DD-45BD-98E2-46D6C6F8FEFD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8DD-45BD-98E2-46D6C6F8FEFD}"/>
              </c:ext>
            </c:extLst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8DD-45BD-98E2-46D6C6F8FEFD}"/>
              </c:ext>
            </c:extLst>
          </c:dPt>
          <c:dPt>
            <c:idx val="3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8DD-45BD-98E2-46D6C6F8FEFD}"/>
              </c:ext>
            </c:extLst>
          </c:dPt>
          <c:dPt>
            <c:idx val="4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8DD-45BD-98E2-46D6C6F8FEF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8DD-45BD-98E2-46D6C6F8FEF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8DD-45BD-98E2-46D6C6F8FEF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8DD-45BD-98E2-46D6C6F8FEF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8DD-45BD-98E2-46D6C6F8FEF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8DD-45BD-98E2-46D6C6F8FEF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Theft</c:v>
                </c:pt>
                <c:pt idx="1">
                  <c:v>Fire</c:v>
                </c:pt>
                <c:pt idx="2">
                  <c:v>Vandalism</c:v>
                </c:pt>
                <c:pt idx="3">
                  <c:v>Accident</c:v>
                </c:pt>
                <c:pt idx="4">
                  <c:v>Flood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29</c:v>
                </c:pt>
                <c:pt idx="2">
                  <c:v>27</c:v>
                </c:pt>
                <c:pt idx="3">
                  <c:v>21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8DD-45BD-98E2-46D6C6F8FE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Claim per Policy (%)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Compulsory</c:v>
                </c:pt>
                <c:pt idx="1">
                  <c:v>Casco</c:v>
                </c:pt>
                <c:pt idx="2">
                  <c:v>Health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14.6</c:v>
                </c:pt>
                <c:pt idx="1">
                  <c:v>13.24</c:v>
                </c:pt>
                <c:pt idx="2">
                  <c:v>10.53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09-4C5F-89D4-8C58380F1A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 Ratio (%)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Compulsory</c:v>
                </c:pt>
                <c:pt idx="1">
                  <c:v>Casco</c:v>
                </c:pt>
                <c:pt idx="2">
                  <c:v>Health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51.43</c:v>
                </c:pt>
                <c:pt idx="1">
                  <c:v>46.81</c:v>
                </c:pt>
                <c:pt idx="2">
                  <c:v>30.8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09-4C5F-89D4-8C58380F1A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9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7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3"/>
            </a:stretch>
          </a:blipFill>
        </p:spPr>
        <p:txBody>
          <a:bodyPr/>
          <a:lstStyle/>
          <a:p>
            <a:endParaRPr lang="en-US" sz="900"/>
          </a:p>
        </p:txBody>
      </p:sp>
      <p:grpSp>
        <p:nvGrpSpPr>
          <p:cNvPr id="3" name="Group 3"/>
          <p:cNvGrpSpPr/>
          <p:nvPr/>
        </p:nvGrpSpPr>
        <p:grpSpPr>
          <a:xfrm>
            <a:off x="514350" y="897126"/>
            <a:ext cx="8115300" cy="2404295"/>
            <a:chOff x="0" y="0"/>
            <a:chExt cx="4274726" cy="1266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1266460"/>
            </a:xfrm>
            <a:custGeom>
              <a:avLst/>
              <a:gdLst/>
              <a:ahLst/>
              <a:cxnLst/>
              <a:rect l="l" t="t" r="r" b="b"/>
              <a:pathLst>
                <a:path w="4274726" h="1266460">
                  <a:moveTo>
                    <a:pt x="44361" y="0"/>
                  </a:moveTo>
                  <a:lnTo>
                    <a:pt x="4230365" y="0"/>
                  </a:lnTo>
                  <a:cubicBezTo>
                    <a:pt x="4254865" y="0"/>
                    <a:pt x="4274726" y="19861"/>
                    <a:pt x="4274726" y="44361"/>
                  </a:cubicBezTo>
                  <a:lnTo>
                    <a:pt x="4274726" y="1222099"/>
                  </a:lnTo>
                  <a:cubicBezTo>
                    <a:pt x="4274726" y="1246599"/>
                    <a:pt x="4254865" y="1266460"/>
                    <a:pt x="4230365" y="1266460"/>
                  </a:cubicBezTo>
                  <a:lnTo>
                    <a:pt x="44361" y="1266460"/>
                  </a:lnTo>
                  <a:cubicBezTo>
                    <a:pt x="19861" y="1266460"/>
                    <a:pt x="0" y="1246599"/>
                    <a:pt x="0" y="1222099"/>
                  </a:cubicBezTo>
                  <a:lnTo>
                    <a:pt x="0" y="44361"/>
                  </a:lnTo>
                  <a:cubicBezTo>
                    <a:pt x="0" y="19861"/>
                    <a:pt x="19861" y="0"/>
                    <a:pt x="44361" y="0"/>
                  </a:cubicBezTo>
                  <a:close/>
                </a:path>
              </a:pathLst>
            </a:custGeom>
            <a:solidFill>
              <a:srgbClr val="1748D5"/>
            </a:solidFill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130456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9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14350" y="3453038"/>
            <a:ext cx="1482675" cy="1295841"/>
            <a:chOff x="0" y="0"/>
            <a:chExt cx="780997" cy="6825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0997" cy="682583"/>
            </a:xfrm>
            <a:custGeom>
              <a:avLst/>
              <a:gdLst/>
              <a:ahLst/>
              <a:cxnLst/>
              <a:rect l="l" t="t" r="r" b="b"/>
              <a:pathLst>
                <a:path w="780997" h="682583">
                  <a:moveTo>
                    <a:pt x="190588" y="0"/>
                  </a:moveTo>
                  <a:lnTo>
                    <a:pt x="590409" y="0"/>
                  </a:lnTo>
                  <a:cubicBezTo>
                    <a:pt x="695668" y="0"/>
                    <a:pt x="780997" y="85329"/>
                    <a:pt x="780997" y="190588"/>
                  </a:cubicBezTo>
                  <a:lnTo>
                    <a:pt x="780997" y="491995"/>
                  </a:lnTo>
                  <a:cubicBezTo>
                    <a:pt x="780997" y="597254"/>
                    <a:pt x="695668" y="682583"/>
                    <a:pt x="590409" y="682583"/>
                  </a:cubicBezTo>
                  <a:lnTo>
                    <a:pt x="190588" y="682583"/>
                  </a:lnTo>
                  <a:cubicBezTo>
                    <a:pt x="85329" y="682583"/>
                    <a:pt x="0" y="597254"/>
                    <a:pt x="0" y="491995"/>
                  </a:cubicBezTo>
                  <a:lnTo>
                    <a:pt x="0" y="190588"/>
                  </a:lnTo>
                  <a:cubicBezTo>
                    <a:pt x="0" y="85329"/>
                    <a:pt x="85329" y="0"/>
                    <a:pt x="190588" y="0"/>
                  </a:cubicBezTo>
                  <a:close/>
                </a:path>
              </a:pathLst>
            </a:custGeom>
            <a:solidFill>
              <a:srgbClr val="082DAC"/>
            </a:solidFill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33350"/>
              <a:ext cx="780997" cy="81593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ct val="200000"/>
                </a:lnSpc>
              </a:pPr>
              <a:r>
                <a:rPr lang="en-US" sz="24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1000</a:t>
              </a:r>
            </a:p>
            <a:p>
              <a:pPr algn="ctr">
                <a:lnSpc>
                  <a:spcPts val="1330"/>
                </a:lnSpc>
              </a:pPr>
              <a:r>
                <a:rPr lang="en-US" sz="949" b="1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Total Policies</a:t>
              </a:r>
            </a:p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lang="en-US" sz="949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066625" y="2689386"/>
            <a:ext cx="1010751" cy="101075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48D5"/>
            </a:solidFill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9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62814" y="1082737"/>
            <a:ext cx="1146416" cy="2033073"/>
            <a:chOff x="0" y="0"/>
            <a:chExt cx="355219" cy="6299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5219" cy="629952"/>
            </a:xfrm>
            <a:custGeom>
              <a:avLst/>
              <a:gdLst/>
              <a:ahLst/>
              <a:cxnLst/>
              <a:rect l="l" t="t" r="r" b="b"/>
              <a:pathLst>
                <a:path w="355219" h="629952">
                  <a:moveTo>
                    <a:pt x="177610" y="0"/>
                  </a:moveTo>
                  <a:lnTo>
                    <a:pt x="177610" y="0"/>
                  </a:lnTo>
                  <a:cubicBezTo>
                    <a:pt x="275701" y="0"/>
                    <a:pt x="355219" y="79519"/>
                    <a:pt x="355219" y="177610"/>
                  </a:cubicBezTo>
                  <a:lnTo>
                    <a:pt x="355219" y="452343"/>
                  </a:lnTo>
                  <a:cubicBezTo>
                    <a:pt x="355219" y="499448"/>
                    <a:pt x="336507" y="544623"/>
                    <a:pt x="303199" y="577932"/>
                  </a:cubicBezTo>
                  <a:cubicBezTo>
                    <a:pt x="269891" y="611240"/>
                    <a:pt x="224715" y="629952"/>
                    <a:pt x="177610" y="629952"/>
                  </a:cubicBezTo>
                  <a:lnTo>
                    <a:pt x="177610" y="629952"/>
                  </a:lnTo>
                  <a:cubicBezTo>
                    <a:pt x="79519" y="629952"/>
                    <a:pt x="0" y="550434"/>
                    <a:pt x="0" y="452343"/>
                  </a:cubicBezTo>
                  <a:lnTo>
                    <a:pt x="0" y="177610"/>
                  </a:lnTo>
                  <a:cubicBezTo>
                    <a:pt x="0" y="130505"/>
                    <a:pt x="18712" y="85329"/>
                    <a:pt x="52021" y="52021"/>
                  </a:cubicBezTo>
                  <a:cubicBezTo>
                    <a:pt x="85329" y="18712"/>
                    <a:pt x="130505" y="0"/>
                    <a:pt x="177610" y="0"/>
                  </a:cubicBezTo>
                  <a:close/>
                </a:path>
              </a:pathLst>
            </a:custGeom>
            <a:blipFill>
              <a:blip r:embed="rId3"/>
              <a:stretch>
                <a:fillRect l="-9167" r="-9167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179096" y="1082737"/>
            <a:ext cx="1146416" cy="2033073"/>
            <a:chOff x="0" y="0"/>
            <a:chExt cx="355219" cy="6299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5219" cy="629952"/>
            </a:xfrm>
            <a:custGeom>
              <a:avLst/>
              <a:gdLst/>
              <a:ahLst/>
              <a:cxnLst/>
              <a:rect l="l" t="t" r="r" b="b"/>
              <a:pathLst>
                <a:path w="355219" h="629952">
                  <a:moveTo>
                    <a:pt x="177610" y="0"/>
                  </a:moveTo>
                  <a:lnTo>
                    <a:pt x="177610" y="0"/>
                  </a:lnTo>
                  <a:cubicBezTo>
                    <a:pt x="275701" y="0"/>
                    <a:pt x="355219" y="79519"/>
                    <a:pt x="355219" y="177610"/>
                  </a:cubicBezTo>
                  <a:lnTo>
                    <a:pt x="355219" y="452343"/>
                  </a:lnTo>
                  <a:cubicBezTo>
                    <a:pt x="355219" y="499448"/>
                    <a:pt x="336507" y="544623"/>
                    <a:pt x="303199" y="577932"/>
                  </a:cubicBezTo>
                  <a:cubicBezTo>
                    <a:pt x="269891" y="611240"/>
                    <a:pt x="224715" y="629952"/>
                    <a:pt x="177610" y="629952"/>
                  </a:cubicBezTo>
                  <a:lnTo>
                    <a:pt x="177610" y="629952"/>
                  </a:lnTo>
                  <a:cubicBezTo>
                    <a:pt x="79519" y="629952"/>
                    <a:pt x="0" y="550434"/>
                    <a:pt x="0" y="452343"/>
                  </a:cubicBezTo>
                  <a:lnTo>
                    <a:pt x="0" y="177610"/>
                  </a:lnTo>
                  <a:cubicBezTo>
                    <a:pt x="0" y="130505"/>
                    <a:pt x="18712" y="85329"/>
                    <a:pt x="52021" y="52021"/>
                  </a:cubicBezTo>
                  <a:cubicBezTo>
                    <a:pt x="85329" y="18712"/>
                    <a:pt x="130505" y="0"/>
                    <a:pt x="177610" y="0"/>
                  </a:cubicBezTo>
                  <a:close/>
                </a:path>
              </a:pathLst>
            </a:custGeom>
            <a:blipFill>
              <a:blip r:embed="rId4"/>
              <a:stretch>
                <a:fillRect l="-9167" r="-9167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16" name="Freeform 16"/>
          <p:cNvSpPr/>
          <p:nvPr/>
        </p:nvSpPr>
        <p:spPr>
          <a:xfrm>
            <a:off x="4311695" y="2992210"/>
            <a:ext cx="520610" cy="484641"/>
          </a:xfrm>
          <a:custGeom>
            <a:avLst/>
            <a:gdLst/>
            <a:ahLst/>
            <a:cxnLst/>
            <a:rect l="l" t="t" r="r" b="b"/>
            <a:pathLst>
              <a:path w="1041220" h="969281">
                <a:moveTo>
                  <a:pt x="0" y="0"/>
                </a:moveTo>
                <a:lnTo>
                  <a:pt x="1041220" y="0"/>
                </a:lnTo>
                <a:lnTo>
                  <a:pt x="1041220" y="969281"/>
                </a:lnTo>
                <a:lnTo>
                  <a:pt x="0" y="969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17" name="TextBox 17"/>
          <p:cNvSpPr txBox="1"/>
          <p:nvPr/>
        </p:nvSpPr>
        <p:spPr>
          <a:xfrm>
            <a:off x="820306" y="1251783"/>
            <a:ext cx="4880947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30"/>
              </a:lnSpc>
            </a:pPr>
            <a:r>
              <a:rPr lang="en-US" sz="4664" b="1" spc="-21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INSURANCE</a:t>
            </a:r>
          </a:p>
          <a:p>
            <a:pPr>
              <a:lnSpc>
                <a:spcPts val="4430"/>
              </a:lnSpc>
            </a:pPr>
            <a:r>
              <a:rPr lang="en-US" sz="4664" b="1" spc="-21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PORTFOLIO</a:t>
            </a:r>
          </a:p>
          <a:p>
            <a:pPr>
              <a:lnSpc>
                <a:spcPts val="4430"/>
              </a:lnSpc>
            </a:pPr>
            <a:r>
              <a:rPr lang="en-US" sz="4664" b="1" spc="-21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54354" y="470103"/>
            <a:ext cx="1338749" cy="13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4"/>
              </a:lnSpc>
            </a:pPr>
            <a:r>
              <a:rPr lang="en-US" sz="1200">
                <a:solidFill>
                  <a:srgbClr val="082DAC"/>
                </a:solidFill>
                <a:latin typeface="Poppins Light"/>
                <a:ea typeface="Poppins Light"/>
                <a:cs typeface="Poppins Light"/>
                <a:sym typeface="Poppins Light"/>
              </a:rPr>
              <a:t>Aslan Rustamov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3270" y="470103"/>
            <a:ext cx="2527510" cy="13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84"/>
              </a:lnSpc>
            </a:pPr>
            <a:r>
              <a:rPr lang="en-US" sz="1200">
                <a:solidFill>
                  <a:srgbClr val="1748D5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datacube x hamburg academy</a:t>
            </a:r>
          </a:p>
        </p:txBody>
      </p:sp>
      <p:grpSp>
        <p:nvGrpSpPr>
          <p:cNvPr id="29" name="Group 6">
            <a:extLst>
              <a:ext uri="{FF2B5EF4-FFF2-40B4-BE49-F238E27FC236}">
                <a16:creationId xmlns:a16="http://schemas.microsoft.com/office/drawing/2014/main" id="{C5FBD38D-C69B-31D9-E69D-880A1E2D6045}"/>
              </a:ext>
            </a:extLst>
          </p:cNvPr>
          <p:cNvGrpSpPr/>
          <p:nvPr/>
        </p:nvGrpSpPr>
        <p:grpSpPr>
          <a:xfrm>
            <a:off x="2439849" y="3199881"/>
            <a:ext cx="1482675" cy="1548998"/>
            <a:chOff x="0" y="-133350"/>
            <a:chExt cx="780997" cy="815933"/>
          </a:xfrm>
        </p:grpSpPr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729A39DF-06E0-CE82-6746-4E3626BDDE88}"/>
                </a:ext>
              </a:extLst>
            </p:cNvPr>
            <p:cNvSpPr/>
            <p:nvPr/>
          </p:nvSpPr>
          <p:spPr>
            <a:xfrm>
              <a:off x="0" y="0"/>
              <a:ext cx="780997" cy="682583"/>
            </a:xfrm>
            <a:custGeom>
              <a:avLst/>
              <a:gdLst/>
              <a:ahLst/>
              <a:cxnLst/>
              <a:rect l="l" t="t" r="r" b="b"/>
              <a:pathLst>
                <a:path w="780997" h="682583">
                  <a:moveTo>
                    <a:pt x="190588" y="0"/>
                  </a:moveTo>
                  <a:lnTo>
                    <a:pt x="590409" y="0"/>
                  </a:lnTo>
                  <a:cubicBezTo>
                    <a:pt x="695668" y="0"/>
                    <a:pt x="780997" y="85329"/>
                    <a:pt x="780997" y="190588"/>
                  </a:cubicBezTo>
                  <a:lnTo>
                    <a:pt x="780997" y="491995"/>
                  </a:lnTo>
                  <a:cubicBezTo>
                    <a:pt x="780997" y="597254"/>
                    <a:pt x="695668" y="682583"/>
                    <a:pt x="590409" y="682583"/>
                  </a:cubicBezTo>
                  <a:lnTo>
                    <a:pt x="190588" y="682583"/>
                  </a:lnTo>
                  <a:cubicBezTo>
                    <a:pt x="85329" y="682583"/>
                    <a:pt x="0" y="597254"/>
                    <a:pt x="0" y="491995"/>
                  </a:cubicBezTo>
                  <a:lnTo>
                    <a:pt x="0" y="190588"/>
                  </a:lnTo>
                  <a:cubicBezTo>
                    <a:pt x="0" y="85329"/>
                    <a:pt x="85329" y="0"/>
                    <a:pt x="190588" y="0"/>
                  </a:cubicBezTo>
                  <a:close/>
                </a:path>
              </a:pathLst>
            </a:custGeom>
            <a:solidFill>
              <a:srgbClr val="082DAC"/>
            </a:solidFill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31" name="TextBox 8">
              <a:extLst>
                <a:ext uri="{FF2B5EF4-FFF2-40B4-BE49-F238E27FC236}">
                  <a16:creationId xmlns:a16="http://schemas.microsoft.com/office/drawing/2014/main" id="{037A3273-20F5-DFC0-46CE-4B897F8DB2C8}"/>
                </a:ext>
              </a:extLst>
            </p:cNvPr>
            <p:cNvSpPr txBox="1"/>
            <p:nvPr/>
          </p:nvSpPr>
          <p:spPr>
            <a:xfrm>
              <a:off x="0" y="-133350"/>
              <a:ext cx="780997" cy="81593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ct val="200000"/>
                </a:lnSpc>
              </a:pPr>
              <a:r>
                <a:rPr lang="en-US" sz="24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2.66M </a:t>
              </a:r>
              <a:r>
                <a:rPr lang="en-US" sz="2400" b="1" dirty="0">
                  <a:solidFill>
                    <a:schemeClr val="bg1"/>
                  </a:solidFill>
                </a:rPr>
                <a:t>₼ </a:t>
              </a:r>
              <a:endParaRPr lang="en-US" sz="245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ts val="1330"/>
                </a:lnSpc>
              </a:pPr>
              <a:r>
                <a:rPr lang="en-US" sz="949" b="1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Total Premium</a:t>
              </a:r>
            </a:p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lang="en-US" sz="949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sp>
        <p:nvSpPr>
          <p:cNvPr id="36" name="TextBox 8">
            <a:extLst>
              <a:ext uri="{FF2B5EF4-FFF2-40B4-BE49-F238E27FC236}">
                <a16:creationId xmlns:a16="http://schemas.microsoft.com/office/drawing/2014/main" id="{BB9B9477-8902-EECF-43D5-69558BF4B08D}"/>
              </a:ext>
            </a:extLst>
          </p:cNvPr>
          <p:cNvSpPr txBox="1"/>
          <p:nvPr/>
        </p:nvSpPr>
        <p:spPr>
          <a:xfrm>
            <a:off x="4288660" y="3122949"/>
            <a:ext cx="1482675" cy="1548998"/>
          </a:xfrm>
          <a:prstGeom prst="rect">
            <a:avLst/>
          </a:prstGeom>
        </p:spPr>
        <p:txBody>
          <a:bodyPr lIns="25400" tIns="25400" rIns="25400" bIns="25400" rtlCol="0" anchor="ctr"/>
          <a:lstStyle/>
          <a:p>
            <a:pPr algn="ctr">
              <a:lnSpc>
                <a:spcPts val="1330"/>
              </a:lnSpc>
              <a:spcBef>
                <a:spcPct val="0"/>
              </a:spcBef>
            </a:pPr>
            <a:endParaRPr lang="en-US" sz="949" b="1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38" name="Group 6">
            <a:extLst>
              <a:ext uri="{FF2B5EF4-FFF2-40B4-BE49-F238E27FC236}">
                <a16:creationId xmlns:a16="http://schemas.microsoft.com/office/drawing/2014/main" id="{46F0D513-4472-DDF7-47A2-022086E452E6}"/>
              </a:ext>
            </a:extLst>
          </p:cNvPr>
          <p:cNvGrpSpPr/>
          <p:nvPr/>
        </p:nvGrpSpPr>
        <p:grpSpPr>
          <a:xfrm>
            <a:off x="5221476" y="3412842"/>
            <a:ext cx="1482675" cy="1295841"/>
            <a:chOff x="0" y="0"/>
            <a:chExt cx="780997" cy="682583"/>
          </a:xfrm>
        </p:grpSpPr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7E3EF0B8-0A46-3E37-46E0-6787BFAC2851}"/>
                </a:ext>
              </a:extLst>
            </p:cNvPr>
            <p:cNvSpPr/>
            <p:nvPr/>
          </p:nvSpPr>
          <p:spPr>
            <a:xfrm>
              <a:off x="0" y="0"/>
              <a:ext cx="780997" cy="682583"/>
            </a:xfrm>
            <a:custGeom>
              <a:avLst/>
              <a:gdLst/>
              <a:ahLst/>
              <a:cxnLst/>
              <a:rect l="l" t="t" r="r" b="b"/>
              <a:pathLst>
                <a:path w="780997" h="682583">
                  <a:moveTo>
                    <a:pt x="190588" y="0"/>
                  </a:moveTo>
                  <a:lnTo>
                    <a:pt x="590409" y="0"/>
                  </a:lnTo>
                  <a:cubicBezTo>
                    <a:pt x="695668" y="0"/>
                    <a:pt x="780997" y="85329"/>
                    <a:pt x="780997" y="190588"/>
                  </a:cubicBezTo>
                  <a:lnTo>
                    <a:pt x="780997" y="491995"/>
                  </a:lnTo>
                  <a:cubicBezTo>
                    <a:pt x="780997" y="597254"/>
                    <a:pt x="695668" y="682583"/>
                    <a:pt x="590409" y="682583"/>
                  </a:cubicBezTo>
                  <a:lnTo>
                    <a:pt x="190588" y="682583"/>
                  </a:lnTo>
                  <a:cubicBezTo>
                    <a:pt x="85329" y="682583"/>
                    <a:pt x="0" y="597254"/>
                    <a:pt x="0" y="491995"/>
                  </a:cubicBezTo>
                  <a:lnTo>
                    <a:pt x="0" y="190588"/>
                  </a:lnTo>
                  <a:cubicBezTo>
                    <a:pt x="0" y="85329"/>
                    <a:pt x="85329" y="0"/>
                    <a:pt x="190588" y="0"/>
                  </a:cubicBezTo>
                  <a:close/>
                </a:path>
              </a:pathLst>
            </a:custGeom>
            <a:solidFill>
              <a:srgbClr val="082DAC"/>
            </a:solidFill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40" name="TextBox 8">
              <a:extLst>
                <a:ext uri="{FF2B5EF4-FFF2-40B4-BE49-F238E27FC236}">
                  <a16:creationId xmlns:a16="http://schemas.microsoft.com/office/drawing/2014/main" id="{D353AA86-5066-94D2-AC7E-924E8FD7335F}"/>
                </a:ext>
              </a:extLst>
            </p:cNvPr>
            <p:cNvSpPr txBox="1"/>
            <p:nvPr/>
          </p:nvSpPr>
          <p:spPr>
            <a:xfrm>
              <a:off x="0" y="-133350"/>
              <a:ext cx="780997" cy="81593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ct val="200000"/>
                </a:lnSpc>
              </a:pPr>
              <a:r>
                <a:rPr lang="en-US" sz="24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1.14M </a:t>
              </a:r>
              <a:r>
                <a:rPr lang="en-US" sz="2400" b="1" dirty="0">
                  <a:solidFill>
                    <a:schemeClr val="bg1"/>
                  </a:solidFill>
                </a:rPr>
                <a:t>₼ </a:t>
              </a:r>
              <a:endParaRPr lang="en-US" sz="245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ts val="1330"/>
                </a:lnSpc>
              </a:pPr>
              <a:r>
                <a:rPr lang="en-US" sz="949" b="1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Total Claims</a:t>
              </a:r>
            </a:p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lang="en-US" sz="949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  <p:grpSp>
        <p:nvGrpSpPr>
          <p:cNvPr id="41" name="Group 6">
            <a:extLst>
              <a:ext uri="{FF2B5EF4-FFF2-40B4-BE49-F238E27FC236}">
                <a16:creationId xmlns:a16="http://schemas.microsoft.com/office/drawing/2014/main" id="{C09A9AC2-C578-0468-966A-7195AFE05217}"/>
              </a:ext>
            </a:extLst>
          </p:cNvPr>
          <p:cNvGrpSpPr/>
          <p:nvPr/>
        </p:nvGrpSpPr>
        <p:grpSpPr>
          <a:xfrm>
            <a:off x="7205256" y="3399097"/>
            <a:ext cx="1482675" cy="1295841"/>
            <a:chOff x="0" y="0"/>
            <a:chExt cx="780997" cy="682583"/>
          </a:xfrm>
        </p:grpSpPr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68B4E23E-9E98-7106-92D3-C9300D2FF6C0}"/>
                </a:ext>
              </a:extLst>
            </p:cNvPr>
            <p:cNvSpPr/>
            <p:nvPr/>
          </p:nvSpPr>
          <p:spPr>
            <a:xfrm>
              <a:off x="0" y="0"/>
              <a:ext cx="780997" cy="682583"/>
            </a:xfrm>
            <a:custGeom>
              <a:avLst/>
              <a:gdLst/>
              <a:ahLst/>
              <a:cxnLst/>
              <a:rect l="l" t="t" r="r" b="b"/>
              <a:pathLst>
                <a:path w="780997" h="682583">
                  <a:moveTo>
                    <a:pt x="190588" y="0"/>
                  </a:moveTo>
                  <a:lnTo>
                    <a:pt x="590409" y="0"/>
                  </a:lnTo>
                  <a:cubicBezTo>
                    <a:pt x="695668" y="0"/>
                    <a:pt x="780997" y="85329"/>
                    <a:pt x="780997" y="190588"/>
                  </a:cubicBezTo>
                  <a:lnTo>
                    <a:pt x="780997" y="491995"/>
                  </a:lnTo>
                  <a:cubicBezTo>
                    <a:pt x="780997" y="597254"/>
                    <a:pt x="695668" y="682583"/>
                    <a:pt x="590409" y="682583"/>
                  </a:cubicBezTo>
                  <a:lnTo>
                    <a:pt x="190588" y="682583"/>
                  </a:lnTo>
                  <a:cubicBezTo>
                    <a:pt x="85329" y="682583"/>
                    <a:pt x="0" y="597254"/>
                    <a:pt x="0" y="491995"/>
                  </a:cubicBezTo>
                  <a:lnTo>
                    <a:pt x="0" y="190588"/>
                  </a:lnTo>
                  <a:cubicBezTo>
                    <a:pt x="0" y="85329"/>
                    <a:pt x="85329" y="0"/>
                    <a:pt x="190588" y="0"/>
                  </a:cubicBezTo>
                  <a:close/>
                </a:path>
              </a:pathLst>
            </a:custGeom>
            <a:solidFill>
              <a:srgbClr val="082DAC"/>
            </a:solidFill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43" name="TextBox 8">
              <a:extLst>
                <a:ext uri="{FF2B5EF4-FFF2-40B4-BE49-F238E27FC236}">
                  <a16:creationId xmlns:a16="http://schemas.microsoft.com/office/drawing/2014/main" id="{DE45BB7A-4414-B247-74FA-E46E7CDA27E0}"/>
                </a:ext>
              </a:extLst>
            </p:cNvPr>
            <p:cNvSpPr txBox="1"/>
            <p:nvPr/>
          </p:nvSpPr>
          <p:spPr>
            <a:xfrm>
              <a:off x="0" y="-133350"/>
              <a:ext cx="780997" cy="81593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ct val="200000"/>
                </a:lnSpc>
              </a:pPr>
              <a:r>
                <a:rPr lang="en-US" sz="245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43%</a:t>
              </a:r>
            </a:p>
            <a:p>
              <a:pPr algn="ctr">
                <a:lnSpc>
                  <a:spcPts val="1330"/>
                </a:lnSpc>
              </a:pPr>
              <a:r>
                <a:rPr lang="en-US" sz="949" b="1" dirty="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Loss Ratio</a:t>
              </a:r>
            </a:p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lang="en-US" sz="949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Project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From raw database to executive presentation — end-to-end analytics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2336" y="1207008"/>
            <a:ext cx="193852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336" y="1207008"/>
            <a:ext cx="1938528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2064" y="1298448"/>
            <a:ext cx="347472" cy="34747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05256" y="1371600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FFFF"/>
                </a:solidFill>
              </a:rPr>
              <a:t>Oracle SQL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2336" y="184708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3776" y="237744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Data Analysis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" y="2761488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" y="2898648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285292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Write queries for KPIs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" y="3337560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29184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Filter approved claims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" y="3776472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373075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Aggregate by region/age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" y="4215384"/>
            <a:ext cx="91440" cy="914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416966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CTE &amp; window functions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05456" y="1207008"/>
            <a:ext cx="193852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05456" y="1207008"/>
            <a:ext cx="1938528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615184" y="1298448"/>
            <a:ext cx="347472" cy="34747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15184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08376" y="1371600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FFFF"/>
                </a:solidFill>
              </a:rPr>
              <a:t>Microsoft Excel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05456" y="184708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596896" y="237744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Data Export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79776" y="2761488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670048" y="2898648"/>
            <a:ext cx="91440" cy="9144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16352" y="285292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Export query results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70048" y="3337560"/>
            <a:ext cx="91440" cy="9144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816352" y="329184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Build pivot tables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70048" y="3776472"/>
            <a:ext cx="91440" cy="9144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816352" y="373075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Create bar &amp; pie charts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70048" y="4215384"/>
            <a:ext cx="91440" cy="9144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816352" y="416966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Regional dashboards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08576" y="1207008"/>
            <a:ext cx="193852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08576" y="1207008"/>
            <a:ext cx="193852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18304" y="1298448"/>
            <a:ext cx="347472" cy="34747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18304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11496" y="1371600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FFFF"/>
                </a:solidFill>
              </a:rPr>
              <a:t>Excel Dashboard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608576" y="184708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4700016" y="237744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Visualisation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82896" y="2761488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73168" y="289864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19472" y="285292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Premium vs claims charts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73168" y="333756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19472" y="329184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Loss ratio indicators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73168" y="377647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919472" y="373075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Top agent tables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73168" y="421538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19472" y="416966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Branch comparisons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711696" y="1207008"/>
            <a:ext cx="193852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711696" y="1207008"/>
            <a:ext cx="1938528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821424" y="1298448"/>
            <a:ext cx="347472" cy="34747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821424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14616" y="1371600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FFFF"/>
                </a:solidFill>
              </a:rPr>
              <a:t>PowerPoint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711696" y="184708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6803136" y="237744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Presentation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986016" y="2761488"/>
            <a:ext cx="138988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876288" y="289864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022592" y="285292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16-slide deck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876288" y="333756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022592" y="3291840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Real data from DB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876288" y="3776472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022592" y="373075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Key findings &amp; insights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876288" y="4215384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022592" y="4169664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Management recommendations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212848" y="2578608"/>
            <a:ext cx="384048" cy="292608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315968" y="2578608"/>
            <a:ext cx="384048" cy="292608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419088" y="2578608"/>
            <a:ext cx="384048" cy="292608"/>
          </a:xfrm>
          <a:prstGeom prst="rightArrow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402336" y="4773168"/>
            <a:ext cx="1938528" cy="14629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65760" y="4887115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2761"/>
                </a:solidFill>
              </a:rPr>
              <a:t>Phase 1 — Query &amp; Extract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2505456" y="4773168"/>
            <a:ext cx="1938528" cy="113947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505456" y="489626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75B6"/>
                </a:solidFill>
              </a:rPr>
              <a:t>Phase 2 — Transform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608576" y="4773168"/>
            <a:ext cx="1938528" cy="14629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608576" y="4887115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9488"/>
                </a:solidFill>
              </a:rPr>
              <a:t>Phase 3 — Visualise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711696" y="4773168"/>
            <a:ext cx="1938528" cy="146301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711696" y="4908217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6A34A"/>
                </a:solidFill>
              </a:rPr>
              <a:t>Phase 4 — Present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-921512"/>
            <a:ext cx="6767565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-235712"/>
            <a:ext cx="6767565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43924" y="111760"/>
            <a:ext cx="34213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43924" y="111760"/>
            <a:ext cx="391015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3924" y="111760"/>
            <a:ext cx="391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2564" y="175768"/>
            <a:ext cx="2857416" cy="13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Portfolio Overview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5993" y="329184"/>
            <a:ext cx="2857416" cy="12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Total premiums, claims &amp; key metrics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111760"/>
            <a:ext cx="34213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11760"/>
            <a:ext cx="391015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11760"/>
            <a:ext cx="391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175768"/>
            <a:ext cx="2857416" cy="13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Annual Revenue Trend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314198"/>
            <a:ext cx="2857416" cy="12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Year-by-year performance 2022–2024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3924" y="861568"/>
            <a:ext cx="34213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3924" y="861568"/>
            <a:ext cx="391015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3924" y="861568"/>
            <a:ext cx="391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2564" y="925576"/>
            <a:ext cx="2857416" cy="13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Policy Status Breakdown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2564" y="1058164"/>
            <a:ext cx="2857416" cy="12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Active, expired and cancelled policies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861568"/>
            <a:ext cx="34213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861568"/>
            <a:ext cx="391015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861568"/>
            <a:ext cx="391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925576"/>
            <a:ext cx="2857416" cy="13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Top Agents &amp; Branches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1072134"/>
            <a:ext cx="2857416" cy="12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Best performing agents and branches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3924" y="1611376"/>
            <a:ext cx="34213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43924" y="1611376"/>
            <a:ext cx="391015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43924" y="1611376"/>
            <a:ext cx="391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2564" y="1675384"/>
            <a:ext cx="2857416" cy="13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Regional Analysis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2564" y="1821688"/>
            <a:ext cx="2857416" cy="12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Sales and claims by region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1611376"/>
            <a:ext cx="34213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1611376"/>
            <a:ext cx="391015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1611376"/>
            <a:ext cx="391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1675384"/>
            <a:ext cx="2857416" cy="13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Customer &amp; City Insights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0" y="1830832"/>
            <a:ext cx="2857416" cy="12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Customer distribution and avg premium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43924" y="2361184"/>
            <a:ext cx="34213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43924" y="2361184"/>
            <a:ext cx="391015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43924" y="2361184"/>
            <a:ext cx="391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2564" y="2425192"/>
            <a:ext cx="2857416" cy="13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Age Group Analysis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5993" y="2564384"/>
            <a:ext cx="2857416" cy="12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Claims and policy preferences by age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2361184"/>
            <a:ext cx="34213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63440" y="2361184"/>
            <a:ext cx="391015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63440" y="2361184"/>
            <a:ext cx="391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12080" y="2425192"/>
            <a:ext cx="2857416" cy="13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Claim Reasons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2080" y="2571750"/>
            <a:ext cx="2857416" cy="12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Most common causes of claims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43924" y="3110992"/>
            <a:ext cx="34213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43924" y="3110992"/>
            <a:ext cx="391015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43924" y="3110992"/>
            <a:ext cx="391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2564" y="3175000"/>
            <a:ext cx="2857416" cy="13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Risk by Policy Type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92564" y="3321558"/>
            <a:ext cx="2857416" cy="12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Loss ratio and claim frequency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63440" y="3110992"/>
            <a:ext cx="34213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663440" y="3110992"/>
            <a:ext cx="391015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663440" y="3110992"/>
            <a:ext cx="391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12080" y="3175000"/>
            <a:ext cx="2857416" cy="13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Coverage Analysis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12080" y="3344418"/>
            <a:ext cx="2857416" cy="12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Average coverage by policy type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43924" y="3860800"/>
            <a:ext cx="3421380" cy="3672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243924" y="3860800"/>
            <a:ext cx="391015" cy="3672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43924" y="3860800"/>
            <a:ext cx="391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92564" y="3924808"/>
            <a:ext cx="2857416" cy="13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Age &amp; Policy Type Matrix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75993" y="4075879"/>
            <a:ext cx="2857416" cy="12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Most used policy and claim per age group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663440" y="3860800"/>
            <a:ext cx="34213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663440" y="3860800"/>
            <a:ext cx="391015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663440" y="3860800"/>
            <a:ext cx="391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212080" y="3924808"/>
            <a:ext cx="2857416" cy="13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Key Findings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212080" y="4059936"/>
            <a:ext cx="2857416" cy="12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4 critical insights from the data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43924" y="4436872"/>
            <a:ext cx="34213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43924" y="4436872"/>
            <a:ext cx="391015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43924" y="4436872"/>
            <a:ext cx="3910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92564" y="4500880"/>
            <a:ext cx="2857416" cy="13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Recommendations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92564" y="4656328"/>
            <a:ext cx="2857416" cy="12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Action plan for management</a:t>
            </a:r>
            <a:endParaRPr lang="en-US" sz="8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A2BA05-6430-3839-202E-15E2E1151D86}"/>
              </a:ext>
            </a:extLst>
          </p:cNvPr>
          <p:cNvSpPr txBox="1"/>
          <p:nvPr/>
        </p:nvSpPr>
        <p:spPr>
          <a:xfrm>
            <a:off x="5926583" y="4534400"/>
            <a:ext cx="1690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E2761"/>
                </a:solidFill>
              </a:rPr>
              <a:t>Agenda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Portfolio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Total premiums collected vs approved claims paid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1965960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68249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</a:rPr>
              <a:t>AZN </a:t>
            </a:r>
            <a:r>
              <a:rPr lang="en-US" sz="1800" b="1" dirty="0">
                <a:solidFill>
                  <a:srgbClr val="1E2761"/>
                </a:solidFill>
              </a:rPr>
              <a:t>2,656,541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2267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Total Premiums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5603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All policy types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1298448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68880" y="1298448"/>
            <a:ext cx="196596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168249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</a:rPr>
              <a:t>AZN </a:t>
            </a:r>
            <a:r>
              <a:rPr lang="en-US" sz="1800" b="1" dirty="0">
                <a:solidFill>
                  <a:srgbClr val="1E2761"/>
                </a:solidFill>
              </a:rPr>
              <a:t>1,143,020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2267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Claims Paid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5603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Approved claims only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17720" y="1298448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17720" y="1298448"/>
            <a:ext cx="19659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17720" y="168249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</a:rPr>
              <a:t>AZN </a:t>
            </a:r>
            <a:r>
              <a:rPr lang="en-US" sz="1800" b="1" dirty="0">
                <a:solidFill>
                  <a:srgbClr val="1E2761"/>
                </a:solidFill>
              </a:rPr>
              <a:t>1,513,521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17720" y="2267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Net Revenue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25603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Premium minus claims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298448"/>
            <a:ext cx="1965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0" y="1298448"/>
            <a:ext cx="196596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0" y="168249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43.0%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66560" y="2267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Avg Loss Ratio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25603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Claims / Premiums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3264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Portfolio Health — Loss Ratio Indicator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639312"/>
            <a:ext cx="82296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639312"/>
            <a:ext cx="32918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749040" y="3639312"/>
            <a:ext cx="164592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94960" y="3639312"/>
            <a:ext cx="32918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167128" y="3520440"/>
            <a:ext cx="82296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645920" y="4041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43% avg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0416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A34A"/>
                </a:solidFill>
              </a:rPr>
              <a:t>Healthy (&lt; 80%)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0" y="4041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</a:rPr>
              <a:t>Caution (80–120%)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7784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2626"/>
                </a:solidFill>
              </a:rPr>
              <a:t>Critical (&gt; 120%)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Portfolio is in HEALTHY zone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Annual Revenue Trend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Premium collected vs Claims paid — 2022 to 2024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18872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852160" y="1188720"/>
            <a:ext cx="292608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52160" y="11887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2022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0" y="14630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Premium: 864,625 AZN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0" y="1682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Claims:    375,698 AZN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0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Loss Ratio: 43.45%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52160" y="24231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852160" y="2423160"/>
            <a:ext cx="292608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52160" y="2423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2023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0" y="26974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Premium: 1,046,153 AZN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2916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Claims:    470,813 AZN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43600" y="3136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Loss Ratio: 45.00%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852160" y="365760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852160" y="3657600"/>
            <a:ext cx="292608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52160" y="3657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2024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43600" y="3931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Premium: 745,762 AZN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43600" y="4151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Claims:    296,508 AZN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43600" y="43708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Loss Ratio: 39.76%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Best year: 2023 — highest premium ($1.04M). Best loss ratio: 2024 (39.76%)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Policy Status Breakdown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Active, Expired and Cancelled policies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4572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280160"/>
            <a:ext cx="3474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303520" y="1280160"/>
            <a:ext cx="34747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03520" y="1280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394960" y="1572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350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76656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35.0% of total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76656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Currently earning premiums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303520" y="2468880"/>
            <a:ext cx="3474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303520" y="2468880"/>
            <a:ext cx="34747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303520" y="24688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Expired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94960" y="27614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311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766560" y="2761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31.1% of total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6656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Policy period ended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303520" y="3657600"/>
            <a:ext cx="3474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303520" y="3657600"/>
            <a:ext cx="34747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303520" y="36576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Cancelled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394960" y="39502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339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766560" y="3950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33.9% of total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76656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Terminated before expiry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6576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⚠  Only 35% of policies are active — 65% are inactive (expired or cancelled)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Top 5 Agents by Sales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Ranked by total premium generated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273669"/>
              </p:ext>
            </p:extLst>
          </p:nvPr>
        </p:nvGraphicFramePr>
        <p:xfrm>
          <a:off x="457200" y="1143000"/>
          <a:ext cx="8229600" cy="285292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Lankaran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67,339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60,237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Sumqayit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53,455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51,481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Sumqayit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32,222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Agent 49 (Lankaran/West) leads with $67,339 in sales — 22 policies closed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Top Branches &amp; Regions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Sales performance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Top 3 Branches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298448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Top 4 Regions</a:t>
            </a:r>
            <a:endParaRPr lang="en-US" sz="11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4663440" y="1298448"/>
          <a:ext cx="4114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Regional Performance Deep Dive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Policies, customers, premium, claims and net revenue by region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554405"/>
              </p:ext>
            </p:extLst>
          </p:nvPr>
        </p:nvGraphicFramePr>
        <p:xfrm>
          <a:off x="365761" y="1143001"/>
          <a:ext cx="8229599" cy="2049780"/>
        </p:xfrm>
        <a:graphic>
          <a:graphicData uri="http://schemas.openxmlformats.org/drawingml/2006/table">
            <a:tbl>
              <a:tblPr/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99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9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733,835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295,605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438,230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9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Sumqayit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724,348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326,432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397,916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9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Lankaran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654,871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331,420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323,450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9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543,485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189,562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353,923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1" y="336651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Net Revenue by Region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4100299737"/>
              </p:ext>
            </p:extLst>
          </p:nvPr>
        </p:nvGraphicFramePr>
        <p:xfrm>
          <a:off x="365760" y="3585974"/>
          <a:ext cx="8473440" cy="14706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Customer &amp; City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Customer count and average premium by city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039881"/>
              </p:ext>
            </p:extLst>
          </p:nvPr>
        </p:nvGraphicFramePr>
        <p:xfrm>
          <a:off x="5577840" y="1188720"/>
          <a:ext cx="3200400" cy="3328416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Premium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2,828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Sumqayit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2,782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Shaki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2,677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Mingachevir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2,594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2,565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Lankaran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2,503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Baku has highest avg premium ($2,828) — Sumqayit leads in customer count (78)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Customer Age Group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Average claim amount and customer count by age group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392593"/>
              </p:ext>
            </p:extLst>
          </p:nvPr>
        </p:nvGraphicFramePr>
        <p:xfrm>
          <a:off x="5577840" y="1188720"/>
          <a:ext cx="3200400" cy="3328416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Claim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8,247 AZN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customers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26-35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9,239 AZN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36-45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9,623 AZN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claim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46-55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9,277 AZN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56-65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8,141 AZN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customers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8,396 AZN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Fewest customers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36-45 age group has highest avg claim ($9,623). 56-65 is largest segment (91 customers)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Top Claim Reasons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Most common causes of approved claims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45720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234440"/>
            <a:ext cx="3566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212080" y="1234440"/>
            <a:ext cx="109728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94960" y="1280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Theft — 26.2%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394960" y="15453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34 claims  •  Highest — possible fraud risk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212080" y="1947672"/>
            <a:ext cx="3566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212080" y="1947672"/>
            <a:ext cx="109728" cy="5943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94960" y="1993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Fire — 22.3%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94960" y="22585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29 claims  •  Second most common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212080" y="2660904"/>
            <a:ext cx="3566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212080" y="2660904"/>
            <a:ext cx="109728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394960" y="27066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Vandalism — 20.8%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394960" y="29718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27 claims  •  Close to Fire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212080" y="3374136"/>
            <a:ext cx="3566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212080" y="3374136"/>
            <a:ext cx="109728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394960" y="3419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Accident — 16.2%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394960" y="36850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21 claims  •  Lower than expected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212080" y="4087368"/>
            <a:ext cx="3566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212080" y="4087368"/>
            <a:ext cx="10972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394960" y="4133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Flood — 13.1%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94960" y="43982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17 claims  •  Least frequent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Risk Analysis by Policy Type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Claim frequency and loss ratio per insurance type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188720"/>
            <a:ext cx="2926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852160" y="1188720"/>
            <a:ext cx="2926080" cy="20116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52160" y="11887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Compulsory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0" y="1481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Policies: 322  |  Loss Ratio: 51.43%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0" y="17099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Claim/Policy: 14.6%  |  Claims: $428,799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0" y="1993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D7D31"/>
                </a:solidFill>
              </a:rPr>
              <a:t>Risk: Medium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52160" y="2487168"/>
            <a:ext cx="2926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852160" y="2487168"/>
            <a:ext cx="2926080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52160" y="2487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Casco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0" y="27797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Policies: 355  |  Loss Ratio: 46.81%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3008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Claim/Policy: 13.24%  |  Claims: 446,924 AZN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43600" y="3291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</a:rPr>
              <a:t>Risk: Medium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52160" y="3785616"/>
            <a:ext cx="2926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852160" y="3785616"/>
            <a:ext cx="292608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52160" y="37856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Health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43600" y="40782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Policies: 323  |  Loss Ratio: 30.80%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43600" y="4306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</a:rPr>
              <a:t>Claim/Policy: 10.53%  |  Claims: 267,296 AZN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43600" y="4590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Risk: Low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Age Group — Policy &amp; Claim Matrix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Most used policy type and most common claim reason per age group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027600"/>
              </p:ext>
            </p:extLst>
          </p:nvPr>
        </p:nvGraphicFramePr>
        <p:xfrm>
          <a:off x="365760" y="1143000"/>
          <a:ext cx="8412480" cy="3456432"/>
        </p:xfrm>
        <a:graphic>
          <a:graphicData uri="http://schemas.openxmlformats.org/drawingml/2006/table">
            <a:tbl>
              <a:tblPr/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Claim Reason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Claim ($)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Compulsory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4,257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26-35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Compulsory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10,210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36-45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11,087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46-55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11,290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56-65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Vandalism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6,690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Compulsory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9,929 AZN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46-55 age group has highest avg claim ($11,290). Theft dominates 3 of 6 age groups.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Critical insights from the insurance portfolio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" cy="1737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2984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Portfolio is Profitable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Loss ratio averages 43% — well within the healthy zone. Total net revenue is 1.51M AZN across 2022–2024. The portfolio is fundamentally sound.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109728" cy="1737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2984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12984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2024 Sales Dropped Sharply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719072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Premium fell 28.7% from 1.04M AZN (2023) to 745K AZN (2024). Only 350 active policies remain vs 650 inactive. Urgent need to reverse the sales decline.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109728" cy="17373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1729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1729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Theft is the #1 Claim Driver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593592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Theft accounts for 26.2% of all claims. Combined with Vandalism (20.8%), over 47% of claims are non-accident related — raising fraud investigation concerns.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30632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3063240"/>
            <a:ext cx="109728" cy="1737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31729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🏙️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31729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Sumqayit Leads in Customers, Baku in Premium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593592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Sumqayit has most customers (217) and policies (287) but Baku generates more premium per customer (2,828 AZN avg). Ganja has the best loss ratio at 34.9%.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Action plan for management based on data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09728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</a:rPr>
              <a:t>🔴 Immediate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Reverse 2024 Sales Decline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Launch agent incentive program. Set monthly policy targets per branch. Focus retention of 650 inactive policies.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109728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2618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</a:rPr>
              <a:t>🔴 Immediate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8348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Fraud Controls on Theft Claims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8105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Require police report for all theft/vandalism claims. Flag repeat claimants. 47% of claims are theft+vandalism.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109728" cy="11430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D7D31"/>
                </a:solidFill>
              </a:rPr>
              <a:t>🟠 30 Days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Grow Ganja Region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090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Ganja has best loss ratio (34.9%) but only 199 policies. Invest in agent recruitment and marketing there.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246888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2468880"/>
            <a:ext cx="109728" cy="11430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D7D31"/>
                </a:solidFill>
              </a:rPr>
              <a:t>🟠 30 Days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8348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Target 56-65 Age Segment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090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Largest customer base (91), lowest avg claim (8,141 AZN). Offer loyalty discounts to retain and grow this group.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749040"/>
            <a:ext cx="10972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8221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</a:rPr>
              <a:t>🟡 90 Days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Review Compulsory Pricing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370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Highest loss ratio (51.43%) and most policies (322). Small premium increase can significantly improve profitability.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37490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00600" y="3749040"/>
            <a:ext cx="10972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83480" y="38221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</a:rPr>
              <a:t>🟡 90 Days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8348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Expand to Shaki &amp; Mingachevir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4370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Both cities have 69-77 customers but no regional breakdown — untapped growth potential outside top 4 regions.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Insurance Portfolio Analysis  •  2022–2024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2971800"/>
            <a:ext cx="54864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</a:rPr>
              <a:t>$2.66M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C8"/>
                </a:solidFill>
              </a:rPr>
              <a:t>Total Premiums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</a:rPr>
              <a:t>43%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C8"/>
                </a:solidFill>
              </a:rPr>
              <a:t>Avg Loss Ratio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</a:rPr>
              <a:t>$1.51M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C8"/>
                </a:solidFill>
              </a:rPr>
              <a:t>Net Revenue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ADCFC"/>
                </a:solidFill>
              </a:rPr>
              <a:t>1,000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5C8"/>
                </a:solidFill>
              </a:rPr>
              <a:t>Total Policies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1347</Words>
  <Application>Microsoft Office PowerPoint</Application>
  <PresentationFormat>On-screen Show (16:9)</PresentationFormat>
  <Paragraphs>414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League Spartan</vt:lpstr>
      <vt:lpstr>Poppins</vt:lpstr>
      <vt:lpstr>Poppins Bold</vt:lpstr>
      <vt:lpstr>Poppins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Portfolio Analysis</dc:title>
  <dc:subject>PptxGenJS Presentation</dc:subject>
  <dc:creator>PptxGenJS</dc:creator>
  <cp:lastModifiedBy>Aslan Rustamov</cp:lastModifiedBy>
  <cp:revision>7</cp:revision>
  <dcterms:created xsi:type="dcterms:W3CDTF">2026-05-31T07:22:19Z</dcterms:created>
  <dcterms:modified xsi:type="dcterms:W3CDTF">2026-06-27T19:46:27Z</dcterms:modified>
</cp:coreProperties>
</file>